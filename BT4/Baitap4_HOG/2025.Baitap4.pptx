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embeddedFontLst>
    <p:embeddedFont>
      <p:font typeface="Tahoma" panose="020B0604030504040204" pitchFamily="3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gEazq7PAuOgx57ifF8R0or3dcY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595FD976-4FDA-464E-678B-30054849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:notes">
            <a:extLst>
              <a:ext uri="{FF2B5EF4-FFF2-40B4-BE49-F238E27FC236}">
                <a16:creationId xmlns:a16="http://schemas.microsoft.com/office/drawing/2014/main" id="{A6B067C2-AC7D-3DF1-8DDE-3C4EC00DD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:notes">
            <a:extLst>
              <a:ext uri="{FF2B5EF4-FFF2-40B4-BE49-F238E27FC236}">
                <a16:creationId xmlns:a16="http://schemas.microsoft.com/office/drawing/2014/main" id="{3236CF1F-21A7-CBA1-B61C-7F5C15A2E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093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4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4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87F"/>
              </a:buClr>
              <a:buSzPts val="4400"/>
              <a:buNone/>
              <a:defRPr sz="4400" b="1">
                <a:solidFill>
                  <a:srgbClr val="0038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  <a:defRPr sz="2800" b="1">
                <a:solidFill>
                  <a:srgbClr val="E1242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3"/>
          </p:nvPr>
        </p:nvSpPr>
        <p:spPr>
          <a:xfrm>
            <a:off x="7758953" y="5005949"/>
            <a:ext cx="3637025" cy="34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4F91"/>
              </a:buClr>
              <a:buSzPts val="1800"/>
              <a:buNone/>
              <a:defRPr sz="1800" b="1" i="0">
                <a:solidFill>
                  <a:srgbClr val="114F9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2" name="Google Shape;42;p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" name="Google Shape;45;p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387F"/>
              </a:buClr>
              <a:buSzPts val="4400"/>
              <a:buFont typeface="Arial"/>
              <a:buNone/>
              <a:defRPr sz="4400">
                <a:solidFill>
                  <a:srgbClr val="00387F"/>
                </a:solidFill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774145" y="1438835"/>
            <a:ext cx="10579654" cy="473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50" name="Google Shape;50;p5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0" name="Google Shape;60;p5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61" name="Google Shape;61;p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62;p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64" name="Google Shape;64;p5"/>
          <p:cNvCxnSpPr/>
          <p:nvPr/>
        </p:nvCxnSpPr>
        <p:spPr>
          <a:xfrm>
            <a:off x="774145" y="1116106"/>
            <a:ext cx="11304699" cy="0"/>
          </a:xfrm>
          <a:prstGeom prst="straightConnector1">
            <a:avLst/>
          </a:prstGeom>
          <a:noFill/>
          <a:ln w="38100" cap="flat" cmpd="sng">
            <a:solidFill>
              <a:srgbClr val="E1242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70" name="Google Shape;70;p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" name="Google Shape;71;p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" name="Google Shape;72;p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3" name="Google Shape;73;p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75" name="Google Shape;75;p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8" name="Google Shape;78;p6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6"/>
          <p:cNvSpPr>
            <a:spLocks noGrp="1"/>
          </p:cNvSpPr>
          <p:nvPr>
            <p:ph type="body" idx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905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sz="20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85" name="Google Shape;85;p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6"/>
            <p:cNvCxnSpPr/>
            <p:nvPr/>
          </p:nvCxnSpPr>
          <p:spPr>
            <a:xfrm rot="10800000" flipH="1">
              <a:off x="6011109" y="1480500"/>
              <a:ext cx="591405" cy="506136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8" name="Google Shape;88;p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w="12700" cap="flat" cmpd="sng">
            <a:solidFill>
              <a:srgbClr val="00C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>
            <a:spLocks noGrp="1"/>
          </p:cNvSpPr>
          <p:nvPr>
            <p:ph type="pic" idx="2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6"/>
          <p:cNvSpPr txBox="1">
            <a:spLocks noGrp="1"/>
          </p:cNvSpPr>
          <p:nvPr>
            <p:ph type="body" idx="3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sz="36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95" name="Google Shape;95;p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8" name="Google Shape;98;p7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100" name="Google Shape;100;p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01" name="Google Shape;101;p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4" name="Google Shape;104;p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06" name="Google Shape;106;p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9" name="Google Shape;109;p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11" name="Google Shape;111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" name="Google Shape;112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5" name="Google Shape;115;p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16" name="Google Shape;116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7" name="Google Shape;117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0" name="Google Shape;120;p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21" name="Google Shape;121;p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26" name="Google Shape;126;p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9" name="Google Shape;129;p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" name="Google Shape;130;p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131" name="Google Shape;131;p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5" name="Google Shape;135;p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37" name="Google Shape;137;p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0" name="Google Shape;140;p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42" name="Google Shape;142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143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" name="Google Shape;144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" name="Google Shape;145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6" name="Google Shape;146;p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47" name="Google Shape;147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" name="Google Shape;148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" name="Google Shape;149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" name="Google Shape;150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1" name="Google Shape;151;p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52" name="Google Shape;152;p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" name="Google Shape;153;p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" name="Google Shape;154;p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5" name="Google Shape;155;p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0" name="Google Shape;160;p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" name="Google Shape;161;p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7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67" name="Google Shape;167;p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" name="Google Shape;168;p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9" name="Google Shape;169;p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0" name="Google Shape;170;p7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78" name="Google Shape;178;p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" name="Google Shape;179;p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" name="Google Shape;180;p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1" name="Google Shape;181;p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6" name="Google Shape;186;p8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8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95" name="Google Shape;195;p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07" name="Google Shape;207;p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8" name="Google Shape;208;p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" name="Google Shape;209;p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0" name="Google Shape;210;p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>
            <a:spLocks noGrp="1"/>
          </p:cNvSpPr>
          <p:nvPr>
            <p:ph type="body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9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3" name="Google Shape;213;p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14" name="Google Shape;214;p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9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4" name="Google Shape;224;p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25" name="Google Shape;225;p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6" name="Google Shape;226;p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7" name="Google Shape;227;p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8" name="Google Shape;228;p9"/>
          <p:cNvSpPr txBox="1">
            <a:spLocks noGrp="1"/>
          </p:cNvSpPr>
          <p:nvPr>
            <p:ph type="body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1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34" name="Google Shape;234;p1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5" name="Google Shape;235;p1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6" name="Google Shape;236;p1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7" name="Google Shape;237;p1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>
            <a:spLocks noGrp="1"/>
          </p:cNvSpPr>
          <p:nvPr>
            <p:ph type="body" idx="1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0" name="Google Shape;240;p1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41" name="Google Shape;241;p1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0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1" name="Google Shape;251;p1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52" name="Google Shape;252;p1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p1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" name="Google Shape;254;p1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5" name="Google Shape;255;p10"/>
          <p:cNvSpPr txBox="1">
            <a:spLocks noGrp="1"/>
          </p:cNvSpPr>
          <p:nvPr>
            <p:ph type="body" idx="2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10"/>
          <p:cNvSpPr txBox="1">
            <a:spLocks noGrp="1"/>
          </p:cNvSpPr>
          <p:nvPr>
            <p:ph type="body" idx="3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10"/>
          <p:cNvSpPr txBox="1">
            <a:spLocks noGrp="1"/>
          </p:cNvSpPr>
          <p:nvPr>
            <p:ph type="body" idx="4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1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63" name="Google Shape;263;p1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4" name="Google Shape;264;p1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5" name="Google Shape;265;p1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6" name="Google Shape;266;p1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1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11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0" name="Google Shape;270;p1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71" name="Google Shape;271;p1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1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1" name="Google Shape;281;p1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82" name="Google Shape;282;p1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" name="Google Shape;283;p1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4" name="Google Shape;284;p1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5" name="Google Shape;285;p11"/>
          <p:cNvSpPr txBox="1">
            <a:spLocks noGrp="1"/>
          </p:cNvSpPr>
          <p:nvPr>
            <p:ph type="body" idx="2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2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90" name="Google Shape;290;p1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p1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2" name="Google Shape;292;p1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3" name="Google Shape;293;p1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2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2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12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98" name="Google Shape;298;p12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2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8" name="Google Shape;308;p12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09" name="Google Shape;309;p1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0" name="Google Shape;310;p1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1" name="Google Shape;311;p1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2" name="Google Shape;312;p12"/>
          <p:cNvSpPr>
            <a:spLocks noGrp="1"/>
          </p:cNvSpPr>
          <p:nvPr>
            <p:ph type="pic" idx="2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13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316" name="Google Shape;316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1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9" name="Google Shape;319;p1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13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23" name="Google Shape;323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4" name="Google Shape;324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5" name="Google Shape;325;p1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6" name="Google Shape;326;p13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4F9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1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scikit-image/scikit-image-histogram-oriented-gradients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hog-feature-visualization-in-python-using-skimage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337" name="Google Shape;337;p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38" name="Google Shape;338;p1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87F"/>
              </a:buClr>
              <a:buSzPct val="100000"/>
              <a:buNone/>
            </a:pPr>
            <a:r>
              <a:rPr lang="en-US"/>
              <a:t>CS231. Nhập môn thị giác máy tính</a:t>
            </a:r>
            <a:endParaRPr/>
          </a:p>
        </p:txBody>
      </p:sp>
      <p:sp>
        <p:nvSpPr>
          <p:cNvPr id="339" name="Google Shape;339;p1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</a:pPr>
            <a:r>
              <a:rPr lang="en-US"/>
              <a:t> Bài thực hành 4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</a:pPr>
            <a:r>
              <a:rPr lang="en-US"/>
              <a:t>Phân loại ảnh Người đi bộ sử dụng đặc trưng HOG</a:t>
            </a:r>
            <a:endParaRPr/>
          </a:p>
        </p:txBody>
      </p:sp>
      <p:sp>
        <p:nvSpPr>
          <p:cNvPr id="340" name="Google Shape;340;p1"/>
          <p:cNvSpPr txBox="1">
            <a:spLocks noGrp="1"/>
          </p:cNvSpPr>
          <p:nvPr>
            <p:ph type="body" idx="3"/>
          </p:nvPr>
        </p:nvSpPr>
        <p:spPr>
          <a:xfrm>
            <a:off x="7758953" y="5005949"/>
            <a:ext cx="3637025" cy="34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4F91"/>
              </a:buClr>
              <a:buSzPts val="18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AD7E-F186-0F71-83AF-0739528A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 tập dữ liệu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0772E-A6DE-E922-F3C2-AF0337F9F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Tên tập dữ liệu: MyPedestrian</a:t>
            </a:r>
          </a:p>
          <a:p>
            <a:r>
              <a:rPr lang="en-US"/>
              <a:t>Gồm 2 thư mục</a:t>
            </a:r>
          </a:p>
          <a:p>
            <a:pPr lvl="1"/>
            <a:r>
              <a:rPr lang="en-US"/>
              <a:t>+ Pedestrian: chứa 20 ảnh người đi bộ</a:t>
            </a:r>
          </a:p>
          <a:p>
            <a:pPr lvl="1"/>
            <a:r>
              <a:rPr lang="en-US"/>
              <a:t>+ NonPedestrian: chứa 20 ảnh không phải người đi bộ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67C2A-5E04-FCE0-4562-B50A20EED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2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7C2C-D4B8-48A6-03C0-F9AD4516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36F1-E4F0-0518-813D-0F2D3C43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 tập dữ liệu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5EBA7-EB8C-F26B-2F48-A3452E0A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Ảnh trong: Pedestrian: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F3869-49BA-D5D0-49D8-5B88BA400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CDED3E-E3F3-4203-51E4-899A29F17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69" y="2271596"/>
            <a:ext cx="7862454" cy="42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6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7191-96C6-F290-F3E6-95D69AAC7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73DC-FC19-9994-1243-958C4EBE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 tập dữ liệu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13016-0BC9-CED1-4834-369FC0099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Ảnh trong: NonPedestrian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493E5-37A8-BCC7-F845-A579CB39B0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E0C95-4834-F469-B35D-F70779AB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702" y="2236540"/>
            <a:ext cx="8143511" cy="43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3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28FF2401-45D1-80C5-2FF8-57ABDC3A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">
            <a:extLst>
              <a:ext uri="{FF2B5EF4-FFF2-40B4-BE49-F238E27FC236}">
                <a16:creationId xmlns:a16="http://schemas.microsoft.com/office/drawing/2014/main" id="{79945113-449E-41D9-1353-5881C3E4D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87F"/>
              </a:buClr>
              <a:buSzPct val="100000"/>
              <a:buFont typeface="Arial"/>
              <a:buNone/>
            </a:pPr>
            <a:r>
              <a:rPr lang="en-US"/>
              <a:t>Yêu cầu</a:t>
            </a:r>
            <a:endParaRPr/>
          </a:p>
        </p:txBody>
      </p:sp>
      <p:sp>
        <p:nvSpPr>
          <p:cNvPr id="346" name="Google Shape;346;p2">
            <a:extLst>
              <a:ext uri="{FF2B5EF4-FFF2-40B4-BE49-F238E27FC236}">
                <a16:creationId xmlns:a16="http://schemas.microsoft.com/office/drawing/2014/main" id="{23AD4CBE-6693-5535-5DA3-94FF2BD82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4145" y="1482335"/>
            <a:ext cx="105798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</a:pPr>
            <a:r>
              <a:rPr lang="en-US"/>
              <a:t>S</a:t>
            </a:r>
            <a:r>
              <a:rPr lang="vi-VN"/>
              <a:t>ử dụng đặc trưng HoG</a:t>
            </a:r>
            <a:r>
              <a:rPr lang="en-US"/>
              <a:t> để mô tả ảnh:</a:t>
            </a:r>
          </a:p>
          <a:p>
            <a:pPr lvl="1" indent="-457200">
              <a:spcBef>
                <a:spcPts val="0"/>
              </a:spcBef>
            </a:pPr>
            <a:r>
              <a:rPr lang="en-US"/>
              <a:t>Kích thước ảnh: 128x256,</a:t>
            </a:r>
          </a:p>
          <a:p>
            <a:pPr lvl="1" indent="-457200">
              <a:spcBef>
                <a:spcPts val="0"/>
              </a:spcBef>
            </a:pPr>
            <a:r>
              <a:rPr lang="en-US"/>
              <a:t>orientations=9, </a:t>
            </a:r>
          </a:p>
          <a:p>
            <a:pPr lvl="1" indent="-457200">
              <a:spcBef>
                <a:spcPts val="0"/>
              </a:spcBef>
            </a:pPr>
            <a:r>
              <a:rPr lang="en-US"/>
              <a:t>pixels_per_cell=(8, 8), </a:t>
            </a:r>
          </a:p>
          <a:p>
            <a:pPr lvl="1" indent="-457200">
              <a:spcBef>
                <a:spcPts val="0"/>
              </a:spcBef>
            </a:pPr>
            <a:r>
              <a:rPr lang="en-US"/>
              <a:t>cells_per_block=(2, 2), </a:t>
            </a:r>
          </a:p>
          <a:p>
            <a:pPr lvl="1" indent="-457200">
              <a:spcBef>
                <a:spcPts val="0"/>
              </a:spcBef>
            </a:pPr>
            <a:r>
              <a:rPr lang="en-US"/>
              <a:t>block_norm='L2-Hys’</a:t>
            </a:r>
          </a:p>
          <a:p>
            <a:pPr lvl="1" indent="-457200">
              <a:spcBef>
                <a:spcPts val="0"/>
              </a:spcBef>
            </a:pPr>
            <a:r>
              <a:rPr lang="en-US"/>
              <a:t>feature_vector =True</a:t>
            </a:r>
          </a:p>
        </p:txBody>
      </p:sp>
      <p:sp>
        <p:nvSpPr>
          <p:cNvPr id="347" name="Google Shape;347;p2">
            <a:extLst>
              <a:ext uri="{FF2B5EF4-FFF2-40B4-BE49-F238E27FC236}">
                <a16:creationId xmlns:a16="http://schemas.microsoft.com/office/drawing/2014/main" id="{A73392B3-2916-9314-2C90-DDA4F94728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348" name="Google Shape;348;p2">
            <a:extLst>
              <a:ext uri="{FF2B5EF4-FFF2-40B4-BE49-F238E27FC236}">
                <a16:creationId xmlns:a16="http://schemas.microsoft.com/office/drawing/2014/main" id="{3A800E0D-34AB-A396-4B62-29060236B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AED88-6CB1-DFDC-B55D-80CCC456D9BA}"/>
              </a:ext>
            </a:extLst>
          </p:cNvPr>
          <p:cNvSpPr txBox="1"/>
          <p:nvPr/>
        </p:nvSpPr>
        <p:spPr>
          <a:xfrm>
            <a:off x="838055" y="5697315"/>
            <a:ext cx="8505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https://www.tutorialspoint.com/scikit-image/scikit-image-histogram-oriented-gradients.htm</a:t>
            </a:r>
            <a:endParaRPr lang="en-US"/>
          </a:p>
          <a:p>
            <a:r>
              <a:rPr lang="en-US">
                <a:hlinkClick r:id="rId4"/>
              </a:rPr>
              <a:t>https://www.geeksforgeeks.org/hog-feature-visualization-in-python-using-skimage/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575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87F"/>
              </a:buClr>
              <a:buSzPct val="100000"/>
              <a:buFont typeface="Arial"/>
              <a:buNone/>
            </a:pPr>
            <a:r>
              <a:rPr lang="en-US"/>
              <a:t>Yêu cầu</a:t>
            </a:r>
            <a:endParaRPr/>
          </a:p>
        </p:txBody>
      </p:sp>
      <p:sp>
        <p:nvSpPr>
          <p:cNvPr id="346" name="Google Shape;346;p2"/>
          <p:cNvSpPr txBox="1">
            <a:spLocks noGrp="1"/>
          </p:cNvSpPr>
          <p:nvPr>
            <p:ph type="body" idx="1"/>
          </p:nvPr>
        </p:nvSpPr>
        <p:spPr>
          <a:xfrm>
            <a:off x="774145" y="1482335"/>
            <a:ext cx="105798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</a:pPr>
            <a:r>
              <a:rPr lang="en-US"/>
              <a:t>Dữ liệu train: test được chia theo tỉ lệ 7: 3</a:t>
            </a:r>
          </a:p>
          <a:p>
            <a:pPr indent="-457200">
              <a:spcBef>
                <a:spcPts val="0"/>
              </a:spcBef>
            </a:pPr>
            <a:r>
              <a:rPr lang="en-US"/>
              <a:t>Sử dụng phương pháp </a:t>
            </a:r>
            <a:r>
              <a:rPr lang="en-US">
                <a:solidFill>
                  <a:srgbClr val="FF0000"/>
                </a:solidFill>
              </a:rPr>
              <a:t>KNeighborsClassifier</a:t>
            </a:r>
            <a:r>
              <a:rPr lang="en-US"/>
              <a:t> và </a:t>
            </a:r>
            <a:r>
              <a:rPr lang="en-US">
                <a:solidFill>
                  <a:srgbClr val="FF0000"/>
                </a:solidFill>
              </a:rPr>
              <a:t>LogisticRegression</a:t>
            </a:r>
            <a:r>
              <a:rPr lang="en-US"/>
              <a:t> với các tham số mặc định</a:t>
            </a:r>
          </a:p>
          <a:p>
            <a:pPr indent="-457200">
              <a:spcBef>
                <a:spcPts val="0"/>
              </a:spcBef>
            </a:pPr>
            <a:r>
              <a:rPr lang="en-US"/>
              <a:t>Sử dụng hàm classification_report để in ra kết quả phân loại của hai mô hình.</a:t>
            </a:r>
          </a:p>
        </p:txBody>
      </p:sp>
      <p:sp>
        <p:nvSpPr>
          <p:cNvPr id="347" name="Google Shape;347;p2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348" name="Google Shape;348;p2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244</Words>
  <Application>Microsoft Office PowerPoint</Application>
  <PresentationFormat>Widescreen</PresentationFormat>
  <Paragraphs>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Tahoma</vt:lpstr>
      <vt:lpstr>Arial</vt:lpstr>
      <vt:lpstr>Times New Roman</vt:lpstr>
      <vt:lpstr>Office Theme</vt:lpstr>
      <vt:lpstr>PowerPoint Presentation</vt:lpstr>
      <vt:lpstr>Mô tả tập dữ liệu</vt:lpstr>
      <vt:lpstr>Mô tả tập dữ liệu</vt:lpstr>
      <vt:lpstr>Mô tả tập dữ liệu</vt:lpstr>
      <vt:lpstr>Yêu cầu</vt:lpstr>
      <vt:lpstr>Yêu cầu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Trần Hoàng Lộc</dc:creator>
  <cp:lastModifiedBy>Mai Tiến Dũng</cp:lastModifiedBy>
  <cp:revision>3</cp:revision>
  <dcterms:created xsi:type="dcterms:W3CDTF">2023-03-03T01:55:04Z</dcterms:created>
  <dcterms:modified xsi:type="dcterms:W3CDTF">2025-05-08T06:48:01Z</dcterms:modified>
</cp:coreProperties>
</file>